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6858000" cy="12191695"/>
  <p:notesSz cx="12191695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11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34440" y="777240"/>
            <a:ext cx="4389120" cy="457200"/>
          </a:xfrm>
          <a:prstGeom prst="roundRect">
            <a:avLst>
              <a:gd name="adj" fmla="val 50000"/>
            </a:avLst>
          </a:prstGeom>
          <a:ln w="12700">
            <a:solidFill>
              <a:srgbClr val="F0CE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34440" y="7772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0CE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시대 · 웰니스 전문가를 위한 무료특강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5760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당신의 실력을</a:t>
            </a:r>
            <a:endParaRPr lang="en-US" sz="3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세상이 </a:t>
            </a:r>
            <a:pPr algn="ctr" indent="0" marL="0">
              <a:lnSpc>
                <a:spcPct val="115000"/>
              </a:lnSpc>
              <a:buNone/>
            </a:pPr>
            <a:r>
              <a:rPr lang="en-US" sz="3100" b="1" dirty="0">
                <a:solidFill>
                  <a:srgbClr val="F0CE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알아보게</a:t>
            </a:r>
            <a:pPr algn="ctr" indent="0" marL="0">
              <a:lnSpc>
                <a:spcPct val="115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하는 법,</a:t>
            </a:r>
            <a:endParaRPr lang="en-US" sz="3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번의 특강에</a:t>
            </a:r>
            <a:pPr algn="ctr" indent="0" marL="0">
              <a:lnSpc>
                <a:spcPct val="115000"/>
              </a:lnSpc>
              <a:buNone/>
            </a:pPr>
            <a:endParaRPr lang="en-US" sz="3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담았습니다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5760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EDE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명상·상담·코칭·요가… 사람을 변화시키는 좋은 일을 하고 계신 당신께.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브랜딩과 콘텐츠의 핵심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EDE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을, 아끼지 않고 무료로 공개합니다.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FD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</a:t>
            </a:r>
            <a:pPr algn="ctr" indent="0" marL="0">
              <a:buNone/>
            </a:pPr>
            <a:r>
              <a:rPr lang="en-US" sz="1600" b="1" dirty="0">
                <a:solidFill>
                  <a:srgbClr val="F8F5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 무료 · 온라인 라이브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965960" y="7223760"/>
            <a:ext cx="2926080" cy="822960"/>
          </a:xfrm>
          <a:prstGeom prst="roundRect">
            <a:avLst>
              <a:gd name="adj" fmla="val 50000"/>
            </a:avLst>
          </a:prstGeom>
          <a:solidFill>
            <a:srgbClr val="E7B84D"/>
          </a:solidFill>
          <a:ln/>
          <a:effectLst>
            <a:outerShdw sx="100000" sy="100000" kx="0" ky="0" algn="bl" rotWithShape="0" blurRad="114300" dist="38100" dir="5400000">
              <a:srgbClr val="3A276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965960" y="722376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1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무료로 신청하기  →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81838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7AC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신청자에게만 참여 링크를 보내드립니다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E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이런 마음, 익숙하신가요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5760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수업은 좋은데,</a:t>
            </a:r>
            <a:endParaRPr lang="en-US" sz="2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나를 아는 사람이 없습니다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576072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76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51460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</a:t>
            </a:r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만족도는 높은데, 새 기수 모집은 늘 처음부터 어렵다.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3566160"/>
            <a:ext cx="576072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760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356616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</a:t>
            </a:r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SNS를 해야 한다는 건 아는데, 무엇부터 어떻게 할지 막막하다.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4617720"/>
            <a:ext cx="576072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76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461772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</a:t>
            </a:r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중요하다지만, 내 일에 어떻게 써야 할지 감이 오지 않는다.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48640" y="5669280"/>
            <a:ext cx="576072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76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566928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</a:t>
            </a:r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이름을 검색해도, 나오는 것이 거의 없다.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48640" y="6720840"/>
            <a:ext cx="576072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76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" y="672084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</a:t>
            </a:r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좋아하는 일을 하면서, 마음도 살림도 편안해지고 싶다.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48640" y="7909560"/>
            <a:ext cx="5760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고개가 끄덕여졌다면, 이 시간은 당신을 위한 자리입니다.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E1A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377440"/>
            <a:ext cx="5760720" cy="7315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EDE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사실, 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F0CE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문제는 실력이 아닙니다.</a:t>
            </a:r>
            <a:endParaRPr lang="en-US" sz="2000" dirty="0"/>
          </a:p>
          <a:p>
            <a:pPr algn="ctr" indent="0" marL="0">
              <a:lnSpc>
                <a:spcPct val="15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EDE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당신은 이미 충분한 전문성을 가지고 있습니다.</a:t>
            </a:r>
            <a:endParaRPr lang="en-US" sz="2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EDE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명상을 지도하고, 사람의 변화를 돕고,</a:t>
            </a:r>
            <a:endParaRPr lang="en-US" sz="2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EDE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누군가의 삶을 조용히 바꾸고 있습니다.</a:t>
            </a:r>
            <a:endParaRPr lang="en-US" sz="2000" dirty="0"/>
          </a:p>
          <a:p>
            <a:pPr algn="ctr" indent="0" marL="0">
              <a:lnSpc>
                <a:spcPct val="15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EDE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그런데도 왜, 사람들은 당신을 모를까요?</a:t>
            </a:r>
            <a:endParaRPr lang="en-US" sz="2000" dirty="0"/>
          </a:p>
          <a:p>
            <a:pPr algn="ctr" indent="0" marL="0">
              <a:lnSpc>
                <a:spcPct val="15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이유는 단 하나.</a:t>
            </a:r>
            <a:endParaRPr lang="en-US" sz="2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당신을 </a:t>
            </a:r>
            <a:pPr algn="ctr" indent="0" marL="0">
              <a:lnSpc>
                <a:spcPct val="150000"/>
              </a:lnSpc>
              <a:buNone/>
            </a:pPr>
            <a:r>
              <a:rPr lang="en-US" sz="2600" b="1" dirty="0">
                <a:solidFill>
                  <a:srgbClr val="F0CE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발견할 길</a:t>
            </a:r>
            <a:pPr algn="ctr" indent="0" marL="0">
              <a:lnSpc>
                <a:spcPct val="15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endParaRPr lang="en-US" sz="2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만들어지지 않았기 때문입니다.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E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377440"/>
            <a:ext cx="5760720" cy="7315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2000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많은 분들이 브랜드를 오해합니다.</a:t>
            </a:r>
            <a:endParaRPr lang="en-US" sz="2000" dirty="0"/>
          </a:p>
          <a:p>
            <a:pPr algn="ctr" indent="0" marL="0">
              <a:lnSpc>
                <a:spcPct val="145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2000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예쁜 로고가 아닙니다.</a:t>
            </a:r>
            <a:endParaRPr lang="en-US" sz="20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2000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멋진 홈페이지도, 팔로워 숫자도 아닙니다.</a:t>
            </a:r>
            <a:endParaRPr lang="en-US" sz="2000" dirty="0"/>
          </a:p>
          <a:p>
            <a:pPr algn="ctr" indent="0" marL="0">
              <a:lnSpc>
                <a:spcPct val="145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브랜드란,</a:t>
            </a:r>
            <a:endParaRPr lang="en-US" sz="20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사람들이 </a:t>
            </a:r>
            <a:pPr algn="ctr"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당신을 신뢰하는 이유</a:t>
            </a:r>
            <a:pPr algn="ctr"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2000" dirty="0"/>
          </a:p>
          <a:p>
            <a:pPr algn="ctr" indent="0" marL="0">
              <a:lnSpc>
                <a:spcPct val="145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2000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사람들은 가장 잘 가르치는 사람이 아니라,</a:t>
            </a:r>
            <a:endParaRPr lang="en-US" sz="20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2000" b="1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먼저 떠오르는 사람</a:t>
            </a:r>
            <a:pPr algn="ctr" indent="0" marL="0">
              <a:lnSpc>
                <a:spcPct val="145000"/>
              </a:lnSpc>
              <a:buNone/>
            </a:pPr>
            <a:r>
              <a:rPr lang="en-US" sz="2000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선택합니다.</a:t>
            </a:r>
            <a:endParaRPr lang="en-US" sz="20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2000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그 신뢰는, 콘텐츠를 통해 조금씩 쌓입니다.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211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0CE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바꾼 것, 바꾸지 못한 것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5760720" cy="822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900" dirty="0">
                <a:solidFill>
                  <a:srgbClr val="EDE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웰니스 전문가를 대체할까요?  </a:t>
            </a:r>
            <a:pPr algn="ctr" indent="0" marL="0">
              <a:lnSpc>
                <a:spcPct val="145000"/>
              </a:lnSpc>
              <a:buNone/>
            </a:pPr>
            <a:r>
              <a:rPr lang="en-US" sz="1900" b="1" dirty="0">
                <a:solidFill>
                  <a:srgbClr val="F0CE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아닙니다.</a:t>
            </a:r>
            <a:endParaRPr lang="en-US" sz="1900" dirty="0"/>
          </a:p>
          <a:p>
            <a:pPr algn="ctr" indent="0" marL="0">
              <a:lnSpc>
                <a:spcPct val="145000"/>
              </a:lnSpc>
              <a:buNone/>
            </a:pPr>
            <a:endParaRPr lang="en-US" sz="19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900" dirty="0">
                <a:solidFill>
                  <a:srgbClr val="EDE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사람의 마음을 공감하지 못합니다.</a:t>
            </a:r>
            <a:endParaRPr lang="en-US" sz="19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900" dirty="0">
                <a:solidFill>
                  <a:srgbClr val="EDE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진심 어린 상담도, 깊은 명상도,</a:t>
            </a:r>
            <a:endParaRPr lang="en-US" sz="19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900" dirty="0">
                <a:solidFill>
                  <a:srgbClr val="EDE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삶을 바꾸는 코칭도 대신할 수 없습니다.</a:t>
            </a:r>
            <a:endParaRPr lang="en-US" sz="1900" dirty="0"/>
          </a:p>
          <a:p>
            <a:pPr algn="ctr" indent="0" marL="0">
              <a:lnSpc>
                <a:spcPct val="145000"/>
              </a:lnSpc>
              <a:buNone/>
            </a:pPr>
            <a:endParaRPr lang="en-US" sz="19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다만, AI를 </a:t>
            </a:r>
            <a:pPr algn="ctr" indent="0" marL="0">
              <a:lnSpc>
                <a:spcPct val="145000"/>
              </a:lnSpc>
              <a:buNone/>
            </a:pPr>
            <a:r>
              <a:rPr lang="en-US" sz="2500" b="1" dirty="0">
                <a:solidFill>
                  <a:srgbClr val="F0CE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활용하는</a:t>
            </a:r>
            <a:pPr algn="ctr" indent="0" marL="0">
              <a:lnSpc>
                <a:spcPct val="14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전문가는</a:t>
            </a:r>
            <a:endParaRPr lang="en-US" sz="19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그렇지 않은 전문가보다 훨씬 빠르게 알려집니다.</a:t>
            </a:r>
            <a:endParaRPr lang="en-US" sz="1900" dirty="0"/>
          </a:p>
          <a:p>
            <a:pPr algn="ctr" indent="0" marL="0">
              <a:lnSpc>
                <a:spcPct val="145000"/>
              </a:lnSpc>
              <a:buNone/>
            </a:pPr>
            <a:endParaRPr lang="en-US" sz="19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900" dirty="0">
                <a:solidFill>
                  <a:srgbClr val="EDE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예전엔 광고비도, 직원도, 마케팅팀도 필요했습니다.</a:t>
            </a:r>
            <a:endParaRPr lang="en-US" sz="19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900" dirty="0">
                <a:solidFill>
                  <a:srgbClr val="EDE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AI와 올바른 순서만 있으면, 혼자서도 충분히 해낼 수 있습니다.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FE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특강에서 아낌없이 드립니다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5760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웰니스 전문가가 꼭 알아야 할 핵심,</a:t>
            </a:r>
            <a:endParaRPr lang="en-US" sz="2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무료로 다 풀어드립니다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2468880"/>
            <a:ext cx="576072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76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670048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· 발견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검색되는 전문가가 되는 법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493008"/>
            <a:ext cx="5212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실력 있는 강사가 왜 온라인에선 존재감이 없는지, 어떻게 내 이름이 검색에 잡히는지 그 구조를 알려드립니다.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4434840"/>
            <a:ext cx="576072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76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4636008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· 정체성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98348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나만의 브랜드 정체성 설계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5458968"/>
            <a:ext cx="5212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남을 따라 하지 않아도 되는, 나의 철학과 강점에서 출발하는 브랜드 메시지를 잡는 법.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6400800"/>
            <a:ext cx="576072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76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" y="6601968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· AI 활용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694944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AI를 나만의 콘텐츠 비서로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2960" y="7424928"/>
            <a:ext cx="5212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글감을 찾고, 블로그 글 하나를 인스타·스레드까지 확장하는 실전 프롬프트와 자동화의 기본기.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8366760"/>
            <a:ext cx="576072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76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8567928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· 연결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891540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신뢰가 고객으로 이어지는 흐름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2960" y="9390888"/>
            <a:ext cx="5212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 콘텐츠가 상담·클래스 신청으로 자연스럽게 이어지는 그 동선을 설계하는 법.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1042416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감추고 아끼는 특강이 아닙니다. </a:t>
            </a:r>
            <a:pPr algn="ctr" indent="0" marL="0">
              <a:buNone/>
            </a:pPr>
            <a:r>
              <a:rPr lang="en-US" sz="155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정말 필요한 것을, 이 자리에서 다 드립니다.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E1A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0CE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보는 전체 그림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5760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실력이 알려지고,</a:t>
            </a:r>
            <a:endParaRPr lang="en-US" sz="2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모이는 흐름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234440" y="3017520"/>
            <a:ext cx="4389120" cy="777240"/>
          </a:xfrm>
          <a:prstGeom prst="roundRect">
            <a:avLst>
              <a:gd name="adj" fmla="val 14118"/>
            </a:avLst>
          </a:prstGeom>
          <a:solidFill>
            <a:srgbClr val="3A2560"/>
          </a:solidFill>
          <a:ln w="12700">
            <a:solidFill>
              <a:srgbClr val="6B4E9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4440" y="301752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DE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37947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0CE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234440" y="4251960"/>
            <a:ext cx="4389120" cy="777240"/>
          </a:xfrm>
          <a:prstGeom prst="roundRect">
            <a:avLst>
              <a:gd name="adj" fmla="val 14118"/>
            </a:avLst>
          </a:prstGeom>
          <a:solidFill>
            <a:srgbClr val="3A2560"/>
          </a:solidFill>
          <a:ln w="12700">
            <a:solidFill>
              <a:srgbClr val="6B4E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4440" y="425196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DE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브랜딩 — 나를 한 문장으로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50292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0CE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234440" y="5486400"/>
            <a:ext cx="4389120" cy="777240"/>
          </a:xfrm>
          <a:prstGeom prst="roundRect">
            <a:avLst>
              <a:gd name="adj" fmla="val 14118"/>
            </a:avLst>
          </a:prstGeom>
          <a:solidFill>
            <a:srgbClr val="3A2560"/>
          </a:solidFill>
          <a:ln w="12700">
            <a:solidFill>
              <a:srgbClr val="6B4E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4440" y="548640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DE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— AI로 꾸준하게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62636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0CE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234440" y="6720840"/>
            <a:ext cx="4389120" cy="777240"/>
          </a:xfrm>
          <a:prstGeom prst="roundRect">
            <a:avLst>
              <a:gd name="adj" fmla="val 14118"/>
            </a:avLst>
          </a:prstGeom>
          <a:solidFill>
            <a:srgbClr val="3A2560"/>
          </a:solidFill>
          <a:ln w="12700">
            <a:solidFill>
              <a:srgbClr val="6B4E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672084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DE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 — 검색되고 기억되고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74980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0CE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1234440" y="7955280"/>
            <a:ext cx="4389120" cy="868680"/>
          </a:xfrm>
          <a:prstGeom prst="roundRect">
            <a:avLst>
              <a:gd name="adj" fmla="val 12632"/>
            </a:avLst>
          </a:prstGeom>
          <a:solidFill>
            <a:srgbClr val="E7B84D"/>
          </a:solidFill>
          <a:ln/>
          <a:effectLst>
            <a:outerShdw sx="100000" sy="100000" kx="0" ky="0" algn="bl" rotWithShape="0" blurRad="114300" dist="38100" dir="5400000">
              <a:srgbClr val="3A276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234440" y="79552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1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먼저 찾아옵니다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" y="9052560"/>
            <a:ext cx="5760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DE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많은 분들이 ‘콘텐츠’에서 멈춥니다.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특강에서는 그다음, 실제로 사람이 모이는 지점까지 이어 드립니다.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FE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무료특강에서 공개하는 내용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5760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90분, 이렇게 채워집니다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576072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76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542032"/>
            <a:ext cx="777240" cy="457200"/>
          </a:xfrm>
          <a:prstGeom prst="roundRect">
            <a:avLst>
              <a:gd name="adj" fmla="val 50000"/>
            </a:avLst>
          </a:prstGeom>
          <a:solidFill>
            <a:srgbClr val="4E2E8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42032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127248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시대, 선택받는 웰니스 전문가의 조건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84048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10000"/>
              </a:lnSpc>
              <a:spcAft>
                <a:spcPts val="600"/>
              </a:spcAft>
              <a:buSzPct val="100000"/>
              <a:buChar char="✓"/>
            </a:pPr>
            <a:r>
              <a:rPr lang="en-US" sz="1450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실력파 강사가 온라인에서는 존재감이 없을까</a:t>
            </a:r>
            <a:endParaRPr lang="en-US" sz="1450" dirty="0"/>
          </a:p>
          <a:p>
            <a:pPr marL="228600" indent="-228600">
              <a:lnSpc>
                <a:spcPct val="110000"/>
              </a:lnSpc>
              <a:spcAft>
                <a:spcPts val="600"/>
              </a:spcAft>
              <a:buSzPct val="100000"/>
              <a:buChar char="✓"/>
            </a:pPr>
            <a:r>
              <a:rPr lang="en-US" sz="1450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검색되고 기억되는 브랜드 정체성 설계법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4846320"/>
            <a:ext cx="576072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76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5102352"/>
            <a:ext cx="777240" cy="457200"/>
          </a:xfrm>
          <a:prstGeom prst="roundRect">
            <a:avLst>
              <a:gd name="adj" fmla="val 50000"/>
            </a:avLst>
          </a:prstGeom>
          <a:solidFill>
            <a:srgbClr val="4E2E82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102352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5687568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웰니스 맞춤형 AI 콘텐츠 활용법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68680" y="640080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10000"/>
              </a:lnSpc>
              <a:spcAft>
                <a:spcPts val="600"/>
              </a:spcAft>
              <a:buSzPct val="100000"/>
              <a:buChar char="✓"/>
            </a:pPr>
            <a:r>
              <a:rPr lang="en-US" sz="1450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AI를 ‘나만의 마케팅 비서’로 세팅하는 프롬프트 구조</a:t>
            </a:r>
            <a:endParaRPr lang="en-US" sz="1450" dirty="0"/>
          </a:p>
          <a:p>
            <a:pPr marL="228600" indent="-228600">
              <a:lnSpc>
                <a:spcPct val="110000"/>
              </a:lnSpc>
              <a:spcAft>
                <a:spcPts val="600"/>
              </a:spcAft>
              <a:buSzPct val="100000"/>
              <a:buChar char="✓"/>
            </a:pPr>
            <a:r>
              <a:rPr lang="en-US" sz="1450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블로그 글 하나로 인스타·스레드까지 확장하는 원소스 전략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7406640"/>
            <a:ext cx="576072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76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7662672"/>
            <a:ext cx="777240" cy="457200"/>
          </a:xfrm>
          <a:prstGeom prst="roundRect">
            <a:avLst>
              <a:gd name="adj" fmla="val 50000"/>
            </a:avLst>
          </a:prstGeom>
          <a:solidFill>
            <a:srgbClr val="4E2E82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7662672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3부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8247888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스스로 찾아오게 만드는 신뢰의 구조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8680" y="896112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10000"/>
              </a:lnSpc>
              <a:spcAft>
                <a:spcPts val="600"/>
              </a:spcAft>
              <a:buSzPct val="100000"/>
              <a:buChar char="✓"/>
            </a:pPr>
            <a:r>
              <a:rPr lang="en-US" sz="1450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콘텐츠가 상담·클래스 신청으로 이어지는 흐름 설계</a:t>
            </a:r>
            <a:endParaRPr lang="en-US" sz="1450" dirty="0"/>
          </a:p>
          <a:p>
            <a:pPr marL="228600" indent="-228600">
              <a:lnSpc>
                <a:spcPct val="110000"/>
              </a:lnSpc>
              <a:spcAft>
                <a:spcPts val="600"/>
              </a:spcAft>
              <a:buSzPct val="100000"/>
              <a:buChar char="✓"/>
            </a:pPr>
            <a:r>
              <a:rPr lang="en-US" sz="1450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SNS 마케팅과 웰니스 마케팅은 무엇이 다른가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FE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 소개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5760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 현장에서 뛰고 있으면서</a:t>
            </a:r>
            <a:endParaRPr lang="en-US" sz="2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웰니스 세계를 깊이 이해하는 사람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5760720" cy="932688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3A276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606040"/>
            <a:ext cx="1188720" cy="1188720"/>
          </a:xfrm>
          <a:prstGeom prst="ellipse">
            <a:avLst/>
          </a:prstGeom>
          <a:solidFill>
            <a:srgbClr val="4E2E8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60604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7DA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 사진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7DA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(교체 예정)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40280" y="26517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힐링뉴스 대표 · 메디에이치(MEDI.H) 대표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240280" y="29718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오혜선 대표</a:t>
            </a:r>
            <a:pPr indent="0" marL="0">
              <a:buNone/>
            </a:pPr>
            <a:r>
              <a:rPr lang="en-US" sz="1500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(Sriya)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240280" y="347472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웰니스 시장의 언어와 데이터 기반 마케팅을 모두 아는, 국내에서 드문 웰니스 특화 마케팅 교육자.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44348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언론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828800" y="4434840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명상·웰니스 전문 언론사 &lt;힐링뉴스&gt; 대표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68680" y="4946904"/>
            <a:ext cx="5120640" cy="0"/>
          </a:xfrm>
          <a:prstGeom prst="line">
            <a:avLst/>
          </a:prstGeom>
          <a:noFill/>
          <a:ln w="12700">
            <a:solidFill>
              <a:srgbClr val="DCD0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00176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828800" y="5001768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초프라(Chopra) 국제 코치 자격 취득 · 미국 NBHWC 과정 수료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513832"/>
            <a:ext cx="5120640" cy="0"/>
          </a:xfrm>
          <a:prstGeom prst="line">
            <a:avLst/>
          </a:prstGeom>
          <a:noFill/>
          <a:ln w="12700">
            <a:solidFill>
              <a:srgbClr val="DCD0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568696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828800" y="5568696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메디컬·헬스케어 마케팅 기획사 MEDI.H 대표 · 기업 마케팅 6년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68680" y="6080760"/>
            <a:ext cx="5120640" cy="0"/>
          </a:xfrm>
          <a:prstGeom prst="line">
            <a:avLst/>
          </a:prstGeom>
          <a:noFill/>
          <a:ln w="12700">
            <a:solidFill>
              <a:srgbClr val="DCD0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613562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828800" y="6135624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4년간 1,000명 이상을 직접 교육한 실전 마케팅 교육자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68680" y="6647688"/>
            <a:ext cx="5120640" cy="0"/>
          </a:xfrm>
          <a:prstGeom prst="line">
            <a:avLst/>
          </a:prstGeom>
          <a:noFill/>
          <a:ln w="12700">
            <a:solidFill>
              <a:srgbClr val="DCD0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7025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저술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828800" y="6702552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저서 5권 출간 · 국가연구자 등록 (전 과학기술인)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68680" y="7214616"/>
            <a:ext cx="5120640" cy="0"/>
          </a:xfrm>
          <a:prstGeom prst="line">
            <a:avLst/>
          </a:prstGeom>
          <a:noFill/>
          <a:ln w="12700">
            <a:solidFill>
              <a:srgbClr val="DCD0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72694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828800" y="7269480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정보통신산업진흥원(NIPA) 현직 전문평가위원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868680" y="7781544"/>
            <a:ext cx="5120640" cy="0"/>
          </a:xfrm>
          <a:prstGeom prst="line">
            <a:avLst/>
          </a:prstGeom>
          <a:noFill/>
          <a:ln w="12700">
            <a:solidFill>
              <a:srgbClr val="DCD0E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8680" y="7973568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0EAF8"/>
          </a:solidFill>
          <a:ln/>
        </p:spPr>
      </p:sp>
      <p:sp>
        <p:nvSpPr>
          <p:cNvPr id="29" name="Text 27"/>
          <p:cNvSpPr/>
          <p:nvPr/>
        </p:nvSpPr>
        <p:spPr>
          <a:xfrm>
            <a:off x="1097280" y="8110728"/>
            <a:ext cx="4663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“웰니스 현장을 모르면서 마케팅 이론만 가르치지 않습니다. 저는 실제로 언론사와 마케팅 회사를 운영하며, 고객이 무엇에 마음을 여는지 매일 지켜봐 왔습니다. 또한 웰니스 전문가들의 고뇌를 직관하고, 그 고뇌를 덜어드리고자 이 과정을 개설했습니다.”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FE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걸어간 분들의 이야기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5760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“검색해도 안 나오던 제가,</a:t>
            </a:r>
            <a:endParaRPr lang="en-US" sz="2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달라졌습니다”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576072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76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715768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★★★★★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081528"/>
            <a:ext cx="5212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막연히 SNS를 해야 한다고만 생각했는데, 어떤 순서로 해야 하는지가 처음으로 선명해졌어요. 블로그를 정리하고 나니 공공기관에서 먼저 강의 문의가 왔습니다.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4114800"/>
            <a:ext cx="384048" cy="384048"/>
          </a:xfrm>
          <a:prstGeom prst="ellipse">
            <a:avLst/>
          </a:prstGeom>
          <a:solidFill>
            <a:srgbClr val="4E2E82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4114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25880" y="4114800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김○○ 님 · 명상 지도자 8년 차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4800600"/>
            <a:ext cx="576072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76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5001768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★★★★★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5367528"/>
            <a:ext cx="5212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 셋 키우는 평범한 엄마였는데, 글쓰기부터 시작해 책을 내고 전국으로 강의를 다니게 됐어요. ‘나를 알리는 구조’가 이렇게 중요한 줄 몰랐습니다.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6400800"/>
            <a:ext cx="384048" cy="384048"/>
          </a:xfrm>
          <a:prstGeom prst="ellipse">
            <a:avLst/>
          </a:prstGeom>
          <a:solidFill>
            <a:srgbClr val="4E2E82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6400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325880" y="6400800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이○○ 님 · 웰니스 코치, 저자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7086600"/>
            <a:ext cx="576072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14300" dist="38100" dir="5400000">
              <a:srgbClr val="3A276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7287768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★★★★★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7653528"/>
            <a:ext cx="5212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A21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‘자극적인 마케팅을 하라’고 하지 않는다는 점이 가장 좋았어요. 명상하는 제 결에 맞는 방식으로 진정성을 지키면서 사람들에게 닿는 법을 배웠습니다.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22960" y="8686800"/>
            <a:ext cx="384048" cy="384048"/>
          </a:xfrm>
          <a:prstGeom prst="ellipse">
            <a:avLst/>
          </a:prstGeom>
          <a:solidFill>
            <a:srgbClr val="4E2E82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8686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25880" y="8686800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박○○ 님 · 요가·명상 스튜디오 운영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9464040"/>
            <a:ext cx="17373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CD0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9628632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1,000+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48640" y="1021384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수강생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423160" y="9464040"/>
            <a:ext cx="17373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CD0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23160" y="9628632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4년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2423160" y="1021384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웰니스 특화 교육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297680" y="9464040"/>
            <a:ext cx="17373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CD0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97680" y="9628632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E2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5권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4297680" y="1021384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4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 저서 출간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211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5760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이제, 당신의 실력이</a:t>
            </a:r>
            <a:endParaRPr lang="en-US" sz="2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제대로 알려질 차례입니다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5760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EDE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고민하던 시간을 여기서 멈추세요.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EDE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알아야 할 핵심을, 무료로 모두 가져가세요.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4297680"/>
            <a:ext cx="5760720" cy="2743200"/>
          </a:xfrm>
          <a:prstGeom prst="roundRect">
            <a:avLst>
              <a:gd name="adj" fmla="val 5333"/>
            </a:avLst>
          </a:prstGeom>
          <a:solidFill>
            <a:srgbClr val="2E1E52"/>
          </a:solidFill>
          <a:ln w="12700">
            <a:solidFill>
              <a:srgbClr val="6B4E9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457200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CE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920240" y="457200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3EF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6월 18일(목) 저녁 8:00 – 9:30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914400" y="5138928"/>
            <a:ext cx="5029200" cy="0"/>
          </a:xfrm>
          <a:prstGeom prst="line">
            <a:avLst/>
          </a:prstGeom>
          <a:noFill/>
          <a:ln w="12700">
            <a:solidFill>
              <a:srgbClr val="5A4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519379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CE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920240" y="5193792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3EF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줌(ZOOM) 라이브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914400" y="5760720"/>
            <a:ext cx="5029200" cy="0"/>
          </a:xfrm>
          <a:prstGeom prst="line">
            <a:avLst/>
          </a:prstGeom>
          <a:noFill/>
          <a:ln w="12700">
            <a:solidFill>
              <a:srgbClr val="5A4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5815584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CE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20240" y="5815584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3EF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명상·상담·코칭·요가 등 웰니스 전문가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914400" y="6382512"/>
            <a:ext cx="5029200" cy="0"/>
          </a:xfrm>
          <a:prstGeom prst="line">
            <a:avLst/>
          </a:prstGeom>
          <a:noFill/>
          <a:ln w="12700">
            <a:solidFill>
              <a:srgbClr val="5A4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6437376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CE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수강료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920240" y="6437376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3EF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· 사전 신청자 한정 링크 발송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914400" y="7004304"/>
            <a:ext cx="5029200" cy="0"/>
          </a:xfrm>
          <a:prstGeom prst="line">
            <a:avLst/>
          </a:prstGeom>
          <a:noFill/>
          <a:ln w="12700">
            <a:solidFill>
              <a:srgbClr val="5A4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00200" y="740664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E7B84D"/>
          </a:solidFill>
          <a:ln/>
          <a:effectLst>
            <a:outerShdw sx="100000" sy="100000" kx="0" ky="0" algn="bl" rotWithShape="0" blurRad="114300" dist="38100" dir="5400000">
              <a:srgbClr val="3A276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600200" y="74066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A1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무료로 사전등록하기  →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548640" y="859536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7AC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원활한 질의응답과 밀도 높은 진행을 위해, 선착순 한정 인원으로 모십니다.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1133856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주최 · 힐링뉴스 &amp; 메디에이치(MEDI.H)   |   © 2026 Healing News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2026-08-08T12:03:41Z</dcterms:created>
  <dcterms:modified xsi:type="dcterms:W3CDTF">2026-08-08T12:03:41Z</dcterms:modified>
</cp:coreProperties>
</file>